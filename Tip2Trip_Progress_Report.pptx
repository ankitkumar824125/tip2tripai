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7803D"/>
                </a:solidFill>
                <a:latin typeface="Arial"/>
              </a:defRPr>
            </a:pPr>
            <a:r>
              <a:t>Tip2Trip AI Travel Planner</a:t>
            </a:r>
          </a:p>
          <a:p>
            <a:pPr algn="ctr">
              <a:defRPr sz="2200">
                <a:solidFill>
                  <a:srgbClr val="0F172A"/>
                </a:solidFill>
                <a:latin typeface="Arial"/>
              </a:defRPr>
            </a:pPr>
            <a:r>
              <a:t>Project Development Progress Report: Week 1 &amp; 2</a:t>
            </a:r>
          </a:p>
          <a:p>
            <a:br/>
            <a:pPr algn="ctr">
              <a:defRPr sz="1400" i="1">
                <a:solidFill>
                  <a:srgbClr val="64748B"/>
                </a:solidFill>
                <a:latin typeface="Arial"/>
              </a:defRPr>
            </a:pPr>
            <a:r>
              <a:t>Prepared for: Internship Evaluation / Faculty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803D"/>
                </a:solidFill>
                <a:latin typeface="Arial"/>
              </a:defRPr>
            </a:pPr>
            <a:r>
              <a:t>Week 01: Project Goals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Project Vision: </a:t>
            </a:r>
            <a:r>
              <a:rPr sz="1600">
                <a:solidFill>
                  <a:srgbClr val="64748B"/>
                </a:solidFill>
                <a:latin typeface="Arial"/>
              </a:rPr>
              <a:t>Understood the core platform objective to provide seamless AI itineraries, travel buddies finder, and expense splitting.</a:t>
            </a:r>
            <a:r>
              <a:rPr sz="1300" i="1">
                <a:solidFill>
                  <a:srgbClr val="17803D"/>
                </a:solidFill>
                <a:latin typeface="Courier New"/>
              </a:rPr>
              <a:t>
  (File: App.jsx)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Workflow Analysis: </a:t>
            </a:r>
            <a:r>
              <a:rPr sz="1600">
                <a:solidFill>
                  <a:srgbClr val="64748B"/>
                </a:solidFill>
                <a:latin typeface="Arial"/>
              </a:rPr>
              <a:t>Analyzed the end-to-end traveler workflow: Hero Search -&gt; Feature Grid -&gt; Buddy Match -&gt; Timeline Dashboard.</a:t>
            </a:r>
            <a:r>
              <a:rPr sz="1300" i="1">
                <a:solidFill>
                  <a:srgbClr val="17803D"/>
                </a:solidFill>
                <a:latin typeface="Courier New"/>
              </a:rPr>
              <a:t>
  (File: src/components/)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Routing Architecture: </a:t>
            </a:r>
            <a:r>
              <a:rPr sz="1600">
                <a:solidFill>
                  <a:srgbClr val="64748B"/>
                </a:solidFill>
                <a:latin typeface="Arial"/>
              </a:rPr>
              <a:t>Mapped the component navigation structure, tracking page visibility across conditional routes.</a:t>
            </a:r>
            <a:r>
              <a:rPr sz="1300" i="1">
                <a:solidFill>
                  <a:srgbClr val="17803D"/>
                </a:solidFill>
                <a:latin typeface="Courier New"/>
              </a:rPr>
              <a:t>
  (File: Navbar.jsx &amp; App.jsx)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803D"/>
                </a:solidFill>
                <a:latin typeface="Arial"/>
              </a:defRPr>
            </a:pPr>
            <a:r>
              <a:t>Week 01: Technical Structure &amp; Code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Frontend Layout: </a:t>
            </a:r>
            <a:r>
              <a:rPr sz="1600">
                <a:solidFill>
                  <a:srgbClr val="64748B"/>
                </a:solidFill>
                <a:latin typeface="Arial"/>
              </a:rPr>
              <a:t>Modular React component setup located in src/components/ doing dynamic UI rendering.</a:t>
            </a:r>
            <a:r>
              <a:rPr sz="1300" i="1">
                <a:solidFill>
                  <a:srgbClr val="17803D"/>
                </a:solidFill>
                <a:latin typeface="Courier New"/>
              </a:rPr>
              <a:t>
  (File: src/components/)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Backend Service: </a:t>
            </a:r>
            <a:r>
              <a:rPr sz="1600">
                <a:solidFill>
                  <a:srgbClr val="64748B"/>
                </a:solidFill>
                <a:latin typeface="Arial"/>
              </a:rPr>
              <a:t>Node/Express backend running index.js providing REST endpoints for user authentication and trip timelines.</a:t>
            </a:r>
            <a:r>
              <a:rPr sz="1300" i="1">
                <a:solidFill>
                  <a:srgbClr val="17803D"/>
                </a:solidFill>
                <a:latin typeface="Courier New"/>
              </a:rPr>
              <a:t>
  (File: server/index.js)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Data Store: </a:t>
            </a:r>
            <a:r>
              <a:rPr sz="1600">
                <a:solidFill>
                  <a:srgbClr val="64748B"/>
                </a:solidFill>
                <a:latin typeface="Arial"/>
              </a:rPr>
              <a:t>Local JSON-based mockup database used for data persistence of trips, users, and community posts.</a:t>
            </a:r>
            <a:r>
              <a:rPr sz="1300" i="1">
                <a:solidFill>
                  <a:srgbClr val="17803D"/>
                </a:solidFill>
                <a:latin typeface="Courier New"/>
              </a:rPr>
              <a:t>
  (File: server/db.json)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803D"/>
                </a:solidFill>
                <a:latin typeface="Arial"/>
              </a:defRPr>
            </a:pPr>
            <a:r>
              <a:t>Week 01: Environment Setup &amp;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Frontend Dev Server: </a:t>
            </a:r>
            <a:r>
              <a:rPr sz="1600">
                <a:solidFill>
                  <a:srgbClr val="64748B"/>
                </a:solidFill>
                <a:latin typeface="Arial"/>
              </a:rPr>
              <a:t>Configured and ran Vite dev server on http://localhost:5173 with hot reloading.</a:t>
            </a:r>
            <a:r>
              <a:rPr sz="1300" i="1">
                <a:solidFill>
                  <a:srgbClr val="17803D"/>
                </a:solidFill>
                <a:latin typeface="Courier New"/>
              </a:rPr>
              <a:t>
  (File: package.json)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Backend API Server: </a:t>
            </a:r>
            <a:r>
              <a:rPr sz="1600">
                <a:solidFill>
                  <a:srgbClr val="64748B"/>
                </a:solidFill>
                <a:latin typeface="Arial"/>
              </a:rPr>
              <a:t>Configured Express server running on http://localhost:5000 in nodemon environment.</a:t>
            </a:r>
            <a:r>
              <a:rPr sz="1300" i="1">
                <a:solidFill>
                  <a:srgbClr val="17803D"/>
                </a:solidFill>
                <a:latin typeface="Courier New"/>
              </a:rPr>
              <a:t>
  (File: server/package.json)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Proxy Routing: </a:t>
            </a:r>
            <a:r>
              <a:rPr sz="1600">
                <a:solidFill>
                  <a:srgbClr val="64748B"/>
                </a:solidFill>
                <a:latin typeface="Arial"/>
              </a:rPr>
              <a:t>Established proxy targets in vite.config.js to forward frontend requests to the API.</a:t>
            </a:r>
            <a:r>
              <a:rPr sz="1300" i="1">
                <a:solidFill>
                  <a:srgbClr val="17803D"/>
                </a:solidFill>
                <a:latin typeface="Courier New"/>
              </a:rPr>
              <a:t>
  (File: vite.config.js)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803D"/>
                </a:solidFill>
                <a:latin typeface="Arial"/>
              </a:defRPr>
            </a:pPr>
            <a:r>
              <a:t>Week 02: Routing &amp; Component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State-based Routing: </a:t>
            </a:r>
            <a:r>
              <a:rPr sz="1600">
                <a:solidFill>
                  <a:srgbClr val="64748B"/>
                </a:solidFill>
                <a:latin typeface="Arial"/>
              </a:rPr>
              <a:t>Used react state variables to transition between views (home, profile, signup, login) smoothly.</a:t>
            </a:r>
            <a:r>
              <a:rPr sz="1300" i="1">
                <a:solidFill>
                  <a:srgbClr val="17803D"/>
                </a:solidFill>
                <a:latin typeface="Courier New"/>
              </a:rPr>
              <a:t>
  (File: App.jsx)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Route Protection: </a:t>
            </a:r>
            <a:r>
              <a:rPr sz="1600">
                <a:solidFill>
                  <a:srgbClr val="64748B"/>
                </a:solidFill>
                <a:latin typeface="Arial"/>
              </a:rPr>
              <a:t>Implemented auth-guards that automatically intercept unauthenticated requests and redirect users to login.</a:t>
            </a:r>
            <a:r>
              <a:rPr sz="1300" i="1">
                <a:solidFill>
                  <a:srgbClr val="17803D"/>
                </a:solidFill>
                <a:latin typeface="Courier New"/>
              </a:rPr>
              <a:t>
  (File: App.jsx)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Dynamic Rendering: </a:t>
            </a:r>
            <a:r>
              <a:rPr sz="1600">
                <a:solidFill>
                  <a:srgbClr val="64748B"/>
                </a:solidFill>
                <a:latin typeface="Arial"/>
              </a:rPr>
              <a:t>Managed transitions and visual feedback overlays during screen updates.</a:t>
            </a:r>
            <a:r>
              <a:rPr sz="1300" i="1">
                <a:solidFill>
                  <a:srgbClr val="17803D"/>
                </a:solidFill>
                <a:latin typeface="Courier New"/>
              </a:rPr>
              <a:t>
  (File: App.jsx)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803D"/>
                </a:solidFill>
                <a:latin typeface="Arial"/>
              </a:defRPr>
            </a:pPr>
            <a:r>
              <a:t>Week 02: Navbar Customization &amp; Auth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Conditional Menu Items: </a:t>
            </a:r>
            <a:r>
              <a:rPr sz="1600">
                <a:solidFill>
                  <a:srgbClr val="64748B"/>
                </a:solidFill>
                <a:latin typeface="Arial"/>
              </a:rPr>
              <a:t>Modified menus to display customized items (Avatar, Profile, Sign Out) only when user is logged in.</a:t>
            </a:r>
            <a:r>
              <a:rPr sz="1300" i="1">
                <a:solidFill>
                  <a:srgbClr val="17803D"/>
                </a:solidFill>
                <a:latin typeface="Courier New"/>
              </a:rPr>
              <a:t>
  (File: src/components/Navbar.jsx)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Navigation Callback: </a:t>
            </a:r>
            <a:r>
              <a:rPr sz="1600">
                <a:solidFill>
                  <a:srgbClr val="64748B"/>
                </a:solidFill>
                <a:latin typeface="Arial"/>
              </a:rPr>
              <a:t>Bound the onNavigate event listener to trigger currentPage updates in the parent component.</a:t>
            </a:r>
            <a:r>
              <a:rPr sz="1300" i="1">
                <a:solidFill>
                  <a:srgbClr val="17803D"/>
                </a:solidFill>
                <a:latin typeface="Courier New"/>
              </a:rPr>
              <a:t>
  (File: src/components/Navbar.jsx)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Branding Icons: </a:t>
            </a:r>
            <a:r>
              <a:rPr sz="1600">
                <a:solidFill>
                  <a:srgbClr val="64748B"/>
                </a:solidFill>
                <a:latin typeface="Arial"/>
              </a:rPr>
              <a:t>Updated brand assets, including the compass logo icon and custom text alignments.</a:t>
            </a:r>
            <a:r>
              <a:rPr sz="1300" i="1">
                <a:solidFill>
                  <a:srgbClr val="17803D"/>
                </a:solidFill>
                <a:latin typeface="Courier New"/>
              </a:rPr>
              <a:t>
  (File: src/components/Navbar.jsx)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803D"/>
                </a:solidFill>
                <a:latin typeface="Arial"/>
              </a:defRPr>
            </a:pPr>
            <a:r>
              <a:t>Week 02: Styling, Layouts &amp; Premium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Styling System: </a:t>
            </a:r>
            <a:r>
              <a:rPr sz="1600">
                <a:solidFill>
                  <a:srgbClr val="64748B"/>
                </a:solidFill>
                <a:latin typeface="Arial"/>
              </a:rPr>
              <a:t>Used Tailwind CSS utility classes alongside custom CSS modules for high-fidelity animations.</a:t>
            </a:r>
            <a:r>
              <a:rPr sz="1300" i="1">
                <a:solidFill>
                  <a:srgbClr val="17803D"/>
                </a:solidFill>
                <a:latin typeface="Courier New"/>
              </a:rPr>
              <a:t>
  (File: App.css &amp; tailwind.config.js)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Glassmorphism Effects: </a:t>
            </a:r>
            <a:r>
              <a:rPr sz="1600">
                <a:solidFill>
                  <a:srgbClr val="64748B"/>
                </a:solidFill>
                <a:latin typeface="Arial"/>
              </a:rPr>
              <a:t>Created premium design card layouts using custom backdrop blur filters and border glowing utilities.</a:t>
            </a:r>
            <a:r>
              <a:rPr sz="1300" i="1">
                <a:solidFill>
                  <a:srgbClr val="17803D"/>
                </a:solidFill>
                <a:latin typeface="Courier New"/>
              </a:rPr>
              <a:t>
  (File: src/components/)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Responsive Page Layouts: </a:t>
            </a:r>
            <a:r>
              <a:rPr sz="1600">
                <a:solidFill>
                  <a:srgbClr val="64748B"/>
                </a:solidFill>
                <a:latin typeface="Arial"/>
              </a:rPr>
              <a:t>Refactored grids and spacing to align perfectly on mobile, tablet, and desktop screens.</a:t>
            </a:r>
            <a:r>
              <a:rPr sz="1300" i="1">
                <a:solidFill>
                  <a:srgbClr val="17803D"/>
                </a:solidFill>
                <a:latin typeface="Courier New"/>
              </a:rPr>
              <a:t>
  (File: src/components/)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